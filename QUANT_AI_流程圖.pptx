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99232"/>
            <a:ext cx="12188952" cy="1828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8332B"/>
                </a:solidFill>
                <a:latin typeface="Helvetica Neue"/>
              </a:rPr>
              <a:t>QUANT ·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Helvetica Neue"/>
              </a:rPr>
              <a:t>台股 AI 量化交易系統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99"/>
                </a:solidFill>
                <a:latin typeface="Helvetica Neue"/>
              </a:rPr>
              <a:t>完整運作流程 · 時間節點 · Telegram 推播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210312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elvetica Neue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AI 選股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Helvetica Neue"/>
              </a:rPr>
              <a:t>Gemini +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114800"/>
            <a:ext cx="210312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elvetica Neue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當沖監控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Helvetica Neue"/>
              </a:rPr>
              <a:t>TP / SL / Trailing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4114800"/>
            <a:ext cx="210312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elvetica Neue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Telegram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Helvetica Neue"/>
              </a:rPr>
              <a:t>即時推播確認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114800"/>
            <a:ext cx="210312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elvetica Neue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學習反饋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Helvetica Neue"/>
              </a:rPr>
              <a:t>越來越準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4114800"/>
            <a:ext cx="210312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Helvetica Neue"/>
              </a:rPr>
              <a:t>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617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Notion 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983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Helvetica Neue"/>
              </a:rPr>
              <a:t>每日推送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99"/>
                </a:solidFill>
                <a:latin typeface="Helvetica Neue"/>
              </a:rPr>
              <a:t>by QUANT·AI System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系統架構全覽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103120" cy="1371600"/>
          </a:xfrm>
          <a:prstGeom prst="rect">
            <a:avLst/>
          </a:prstGeom>
          <a:solidFill>
            <a:srgbClr val="161B22"/>
          </a:solidFill>
          <a:ln w="1524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8899"/>
                </a:solidFill>
                <a:latin typeface="Helvetica Neue"/>
              </a:rPr>
              <a:t>既有 Python 後端
（ai_stock/）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選股 · 監控 · 下單 · 學習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097280"/>
            <a:ext cx="2103120" cy="1371600"/>
          </a:xfrm>
          <a:prstGeom prst="rect">
            <a:avLst/>
          </a:prstGeom>
          <a:solidFill>
            <a:srgbClr val="161B22"/>
          </a:solidFill>
          <a:ln w="1524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15768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8BD2"/>
                </a:solidFill>
                <a:latin typeface="Helvetica Neue"/>
              </a:rPr>
              <a:t>FastAPI 後端
（port 8000）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1828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REST API + WebSocket 薄包裝層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37176" y="1097280"/>
            <a:ext cx="2103120" cy="1371600"/>
          </a:xfrm>
          <a:prstGeom prst="rect">
            <a:avLst/>
          </a:prstGeom>
          <a:solidFill>
            <a:srgbClr val="161B22"/>
          </a:solidFill>
          <a:ln w="1524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4F"/>
                </a:solidFill>
                <a:latin typeface="Helvetica Neue"/>
              </a:rPr>
              <a:t>React 前端
（port 5173）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1828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Bloomberg 機構級 UI · 17 畫面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5744" y="1097280"/>
            <a:ext cx="2103120" cy="1371600"/>
          </a:xfrm>
          <a:prstGeom prst="rect">
            <a:avLst/>
          </a:prstGeom>
          <a:solidFill>
            <a:srgbClr val="161B22"/>
          </a:solidFill>
          <a:ln w="1524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Helvetica Neue"/>
              </a:rPr>
              <a:t>Telegram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1828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即時確認 · 查股 · 緊急操作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54312" y="1097280"/>
            <a:ext cx="2103120" cy="137160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188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Helvetica Neue"/>
              </a:rPr>
              <a:t>Notion 報告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828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每日學習報告 · 勝率趨勢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26060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99"/>
                </a:solidFill>
                <a:latin typeface="Helvetica Neue"/>
              </a:rPr>
              <a:t>↔  所有層均雙向通訊  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morning_briefing.py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Gemini 早晨簡報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stock_query.py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技術指標 + DT 評分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16936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0088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deep_analyzer.py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0088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Claude 深度分析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4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risk_guard.py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風控驗證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13832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6984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monitor_agent.py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6984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Shioaji Tick 監控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85432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executor.py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下單執行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0728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daytrading_review.py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收盤複盤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09176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82328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adaptive_scorer.py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2328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AI 學習更新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07624" y="3017520"/>
            <a:ext cx="1252728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0776" y="3090672"/>
            <a:ext cx="11612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8BD2"/>
                </a:solidFill>
                <a:latin typeface="Helvetica Neue"/>
              </a:rPr>
              <a:t>notion_reporter.py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0776" y="3520440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Notion 推送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每日完整時間軸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286000" cy="36576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11274552" cy="36576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3803904"/>
            <a:ext cx="256032" cy="256032"/>
          </a:xfrm>
          <a:prstGeom prst="ellipse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4290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8BD2"/>
                </a:solidFill>
                <a:latin typeface="Helvetica Neue"/>
              </a:rPr>
              <a:t>08:30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5196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8BD2"/>
                </a:solidFill>
                <a:latin typeface="Helvetica Neue"/>
              </a:rPr>
              <a:t>盤前 AI 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選股 + 當沖預測
→ Telegram 推播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3803904"/>
            <a:ext cx="256032" cy="256032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402336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Helvetica Neue"/>
              </a:rPr>
              <a:t>09:00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1912" y="182880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87452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4F"/>
                </a:solidFill>
                <a:latin typeface="Helvetica Neue"/>
              </a:rPr>
              <a:t>開盤下單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28600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波段下單執行</a:t>
            </a:r>
          </a:p>
        </p:txBody>
      </p:sp>
      <p:sp>
        <p:nvSpPr>
          <p:cNvPr id="16" name="Oval 15"/>
          <p:cNvSpPr/>
          <p:nvPr/>
        </p:nvSpPr>
        <p:spPr>
          <a:xfrm>
            <a:off x="3090672" y="3803904"/>
            <a:ext cx="256032" cy="25603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0904" y="34290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9D8F"/>
                </a:solidFill>
                <a:latin typeface="Helvetica Neue"/>
              </a:rPr>
              <a:t>09:05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6624" y="425196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52344" y="429768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Helvetica Neue"/>
              </a:rPr>
              <a:t>開盤確認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2344" y="470916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AI 再確認進場條件
→ Telegram 開盤報告</a:t>
            </a:r>
          </a:p>
        </p:txBody>
      </p:sp>
      <p:sp>
        <p:nvSpPr>
          <p:cNvPr id="21" name="Oval 20"/>
          <p:cNvSpPr/>
          <p:nvPr/>
        </p:nvSpPr>
        <p:spPr>
          <a:xfrm>
            <a:off x="4215384" y="3803904"/>
            <a:ext cx="256032" cy="256032"/>
          </a:xfrm>
          <a:prstGeom prst="ellipse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5616" y="402336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332B"/>
                </a:solidFill>
                <a:latin typeface="Helvetica Neue"/>
              </a:rPr>
              <a:t>09:10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31336" y="182880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77056" y="187452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332B"/>
                </a:solidFill>
                <a:latin typeface="Helvetica Neue"/>
              </a:rPr>
              <a:t>當沖進場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228600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買入確認 Telegram
→ Shioaji 下單</a:t>
            </a:r>
          </a:p>
        </p:txBody>
      </p:sp>
      <p:sp>
        <p:nvSpPr>
          <p:cNvPr id="26" name="Oval 25"/>
          <p:cNvSpPr/>
          <p:nvPr/>
        </p:nvSpPr>
        <p:spPr>
          <a:xfrm>
            <a:off x="5340096" y="3803904"/>
            <a:ext cx="256032" cy="25603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34290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017"/>
                </a:solidFill>
                <a:latin typeface="Helvetica Neue"/>
              </a:rPr>
              <a:t>09:15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425196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429768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017"/>
                </a:solidFill>
                <a:latin typeface="Helvetica Neue"/>
              </a:rPr>
              <a:t>Tick 監控開始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470916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MonitorAgent 訂閱 tick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256032" cy="256032"/>
          </a:xfrm>
          <a:prstGeom prst="ellipse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02336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8BD2"/>
                </a:solidFill>
                <a:latin typeface="Helvetica Neue"/>
              </a:rPr>
              <a:t>10:00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82880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87452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8BD2"/>
                </a:solidFill>
                <a:latin typeface="Helvetica Neue"/>
              </a:rPr>
              <a:t>盤中檢查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28600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持倉損益 + 候選提示
→ Telegram 報告</a:t>
            </a:r>
          </a:p>
        </p:txBody>
      </p:sp>
      <p:sp>
        <p:nvSpPr>
          <p:cNvPr id="36" name="Oval 35"/>
          <p:cNvSpPr/>
          <p:nvPr/>
        </p:nvSpPr>
        <p:spPr>
          <a:xfrm>
            <a:off x="7589520" y="3803904"/>
            <a:ext cx="256032" cy="256032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9752" y="34290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8C00"/>
                </a:solidFill>
                <a:latin typeface="Helvetica Neue"/>
              </a:rPr>
              <a:t>13:00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5472" y="425196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1192" y="429768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8C00"/>
                </a:solidFill>
                <a:latin typeface="Helvetica Neue"/>
              </a:rPr>
              <a:t>出場警報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0916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損益預覽
⚠️ 25 分鐘後強制平倉</a:t>
            </a:r>
          </a:p>
        </p:txBody>
      </p:sp>
      <p:sp>
        <p:nvSpPr>
          <p:cNvPr id="41" name="Oval 40"/>
          <p:cNvSpPr/>
          <p:nvPr/>
        </p:nvSpPr>
        <p:spPr>
          <a:xfrm>
            <a:off x="8714232" y="3803904"/>
            <a:ext cx="256032" cy="25603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402336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88899"/>
                </a:solidFill>
                <a:latin typeface="Helvetica Neue"/>
              </a:rPr>
              <a:t>13:15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0184" y="182880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75904" y="187452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  <a:latin typeface="Helvetica Neue"/>
              </a:rPr>
              <a:t>停止 Tick 訂閱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228600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MonitorAgent 停止</a:t>
            </a:r>
          </a:p>
        </p:txBody>
      </p:sp>
      <p:sp>
        <p:nvSpPr>
          <p:cNvPr id="46" name="Oval 45"/>
          <p:cNvSpPr/>
          <p:nvPr/>
        </p:nvSpPr>
        <p:spPr>
          <a:xfrm>
            <a:off x="9838944" y="3803904"/>
            <a:ext cx="256032" cy="256032"/>
          </a:xfrm>
          <a:prstGeom prst="ellipse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9176" y="342900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332B"/>
                </a:solidFill>
                <a:latin typeface="Helvetica Neue"/>
              </a:rPr>
              <a:t>13:25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54896" y="425196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0616" y="429768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332B"/>
                </a:solidFill>
                <a:latin typeface="Helvetica Neue"/>
              </a:rPr>
              <a:t>強制平倉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470916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ForceCloseJob
市價出清所有當沖部位</a:t>
            </a:r>
          </a:p>
        </p:txBody>
      </p:sp>
      <p:sp>
        <p:nvSpPr>
          <p:cNvPr id="51" name="Oval 50"/>
          <p:cNvSpPr/>
          <p:nvPr/>
        </p:nvSpPr>
        <p:spPr>
          <a:xfrm>
            <a:off x="10963656" y="3803904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33888" y="4023360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5CF6"/>
                </a:solidFill>
                <a:latin typeface="Helvetica Neue"/>
              </a:rPr>
              <a:t>13:35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79608" y="1828800"/>
            <a:ext cx="987552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25328" y="1874520"/>
            <a:ext cx="941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Helvetica Neue"/>
              </a:rPr>
              <a:t>收盤任務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25328" y="2286000"/>
            <a:ext cx="941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PostMarketJob
DT複盤 + 學習更新 + Notion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332B"/>
                </a:solidFill>
                <a:latin typeface="Helvetica Neue"/>
              </a:rPr>
              <a:t>08:30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盤前 AI 分析 — PremarketJob + DaytradingReport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212848" cy="5212080"/>
          </a:xfrm>
          <a:prstGeom prst="rect">
            <a:avLst/>
          </a:prstGeom>
          <a:solidFill>
            <a:srgbClr val="161B22"/>
          </a:solidFill>
          <a:ln w="1524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212848" cy="54864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3444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8BD2"/>
                </a:solidFill>
                <a:latin typeface="Helvetica Neue"/>
              </a:rPr>
              <a:t>① Gemini 早晨簡報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37360"/>
            <a:ext cx="20299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• 抓取台股加權 / 外資 / 投信 / SOX / VIX
• Gemini 生成市場分析 + 風險提示
• 輸出 MorningBriefing 物件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097280"/>
            <a:ext cx="2212848" cy="5212080"/>
          </a:xfrm>
          <a:prstGeom prst="rect">
            <a:avLst/>
          </a:prstGeom>
          <a:solidFill>
            <a:srgbClr val="161B22"/>
          </a:solidFill>
          <a:ln w="1524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1097280"/>
            <a:ext cx="2212848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23444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Helvetica Neue"/>
              </a:rPr>
              <a:t>② risk_guard 風控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737360"/>
            <a:ext cx="20299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• 檢查每筆預算 ≤ 30%
• 同板塊持倉上限
• 黑名單過濾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2212848" cy="5212080"/>
          </a:xfrm>
          <a:prstGeom prst="rect">
            <a:avLst/>
          </a:prstGeom>
          <a:solidFill>
            <a:srgbClr val="161B22"/>
          </a:solidFill>
          <a:ln w="1524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2212848" cy="54864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23444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Helvetica Neue"/>
              </a:rPr>
              <a:t>③ 三套策略生成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1737360"/>
            <a:ext cx="20299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• 衝刺版（高風高報）
• 均衡版（平衡）
• 保守版（防守）
• 每套含選股 + 預期報酬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097280"/>
            <a:ext cx="2212848" cy="521208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0" y="1097280"/>
            <a:ext cx="221284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123444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Helvetica Neue"/>
              </a:rPr>
              <a:t>④ 當沖預測報告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737360"/>
            <a:ext cx="20299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• 掃描全市場
• dt_score 技術評分（0–10）
• Haiku AI 分析評分≥4的標的
• 存入 daytrading_review.db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097280"/>
            <a:ext cx="2212848" cy="521208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1097280"/>
            <a:ext cx="2212848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234440"/>
            <a:ext cx="2029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  <a:latin typeface="Helvetica Neue"/>
              </a:rPr>
              <a:t>⑤ Telegram 推播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1737360"/>
            <a:ext cx="20299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• 早晨市場簡報
• 三套策略各一則
• Inline Keyboard：
  [🚀衝刺] [⚖️均衡] [🛡️保守]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99"/>
                </a:solidFill>
                <a:latin typeface="Helvetica Neue"/>
              </a:rPr>
              <a:t>使用者收到 Telegram 後點選策略 → 系統記錄選擇 → 09:00 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7D4F"/>
                </a:solidFill>
                <a:latin typeface="Helvetica Neue"/>
              </a:rPr>
              <a:t>09:00 – 09:10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開盤進場三步驟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56616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566160" cy="6400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Helvetica Neue"/>
              </a:rPr>
              <a:t>09:00  波段下單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MarketOpenJob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✅ 使用者已選好策略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執行 picks（open/add/close）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place_stock_order() via Shioaji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寫入 research.db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  <a:latin typeface="Helvetica Neue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⚠️ 每筆送出前：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send_confirmation() 二次確認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66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60 秒 timeout → 自動略過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005840"/>
            <a:ext cx="356616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005840"/>
            <a:ext cx="35661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9D8F"/>
                </a:solidFill>
                <a:latin typeface="Helvetica Neue"/>
              </a:rPr>
              <a:t>09:05  開盤確認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600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run_opening_reconfirm()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AI 再次確認進場條件：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350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• 量能比 ≥ 0.8？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734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• 大盤方向吻合？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• 台指期溢貼水正常？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confirmed：繼續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270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skipped：放棄，通知使用者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6542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0383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📱 Telegram 推播：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4223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✅/❌ 每支股狀態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806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  現價 + 進場區間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1005840"/>
            <a:ext cx="356616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1005840"/>
            <a:ext cx="3566160" cy="64008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143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332B"/>
                </a:solidFill>
                <a:latin typeface="Helvetica Neue"/>
              </a:rPr>
              <a:t>09:10  當沖進場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600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send_dt_buy_confirmation()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📱 Telegram 發出：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350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734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8BD2"/>
                </a:solidFill>
                <a:latin typeface="Helvetica Neue"/>
              </a:rPr>
              <a:t>  [✅ 2330 台積電] [❌ 跳過]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118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8BD2"/>
                </a:solidFill>
                <a:latin typeface="Helvetica Neue"/>
              </a:rPr>
              <a:t>  [✅ 2382 廣達]   [❌ 跳過]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8BD2"/>
                </a:solidFill>
                <a:latin typeface="Helvetica Neue"/>
              </a:rPr>
              <a:t>  [✅ 全部買入]    [❌ 全部跳過]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886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270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使用者點選 → callback 觸發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6542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_handle_dt_buy(code)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0383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Shioaji 下買單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54223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MonitorAgent 開始 tick 監控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806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持倉狀態 watching → 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A017"/>
                </a:solidFill>
                <a:latin typeface="Helvetica Neue"/>
              </a:rPr>
              <a:t>09:15 – 13:15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Tick 監控 + 即時出場決策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65760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017"/>
                </a:solidFill>
                <a:latin typeface="Helvetica Neue"/>
              </a:rPr>
              <a:t>MonitorAgent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訂閱 Shioaji 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每個 tick 呼叫 check_trailing_stop()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check_trailing_stop() 判斷優先順序：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332B"/>
                </a:solidFill>
                <a:latin typeface="Helvetica Neue"/>
              </a:rPr>
              <a:t>① gain_pct ≤ -3.0%  →  停損出場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② gain_pct ≥ +9.0%  →  達目標出場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8C00"/>
                </a:solidFill>
                <a:latin typeface="Helvetica Neue"/>
              </a:rPr>
              <a:t>③ 時間 ≥ 13:00  →  強制出場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25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Helvetica Neue"/>
              </a:rPr>
              <a:t>④ peak_gain ≥ +3% 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73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Helvetica Neue"/>
              </a:rPr>
              <a:t>   從高點回落 ≥ 2%  →  追蹤停損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68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peak_price 每個 tick 持續更新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155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（只漲不跌）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005840"/>
            <a:ext cx="7680960" cy="5394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097280"/>
            <a:ext cx="1737360" cy="5120640"/>
          </a:xfrm>
          <a:prstGeom prst="rect">
            <a:avLst/>
          </a:prstGeom>
          <a:solidFill>
            <a:srgbClr val="161B22"/>
          </a:solidFill>
          <a:ln w="15240">
            <a:solidFill>
              <a:srgbClr val="C83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097280"/>
            <a:ext cx="1737360" cy="54864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332B"/>
                </a:solidFill>
                <a:latin typeface="Helvetica Neue"/>
              </a:rPr>
              <a:t>停損出場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閾值：3.0%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057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條件：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gain_pct ≤ -stop_loss_pct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動作：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337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立即市價賣出
損失最小化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📱 Telegram 即時通知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343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✅ 出場已送出
  + 觸發原因 + 價格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0488" y="1097280"/>
            <a:ext cx="1737360" cy="5120640"/>
          </a:xfrm>
          <a:prstGeom prst="rect">
            <a:avLst/>
          </a:prstGeom>
          <a:solidFill>
            <a:srgbClr val="161B22"/>
          </a:solidFill>
          <a:ln w="1524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0488" y="1097280"/>
            <a:ext cx="1737360" cy="54864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4F"/>
                </a:solidFill>
                <a:latin typeface="Helvetica Neue"/>
              </a:rPr>
              <a:t>達目標出場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閾值：9.0%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057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條件：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gain_pct ≥ take_profit_pct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動作：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3337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鎖住最大獲利
送出市價單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📱 Telegram 即時通知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343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✅ 出場已送出
  + 觸發原因 + 價格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7576" y="1097280"/>
            <a:ext cx="1737360" cy="5120640"/>
          </a:xfrm>
          <a:prstGeom prst="rect">
            <a:avLst/>
          </a:prstGeom>
          <a:solidFill>
            <a:srgbClr val="161B22"/>
          </a:solidFill>
          <a:ln w="1524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37576" y="1097280"/>
            <a:ext cx="173736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9016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Helvetica Neue"/>
              </a:rPr>
              <a:t>追蹤停損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9016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閾值：3%/2%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9016" y="2057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條件：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9016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peak_gain ≥ trailing_start
gap ≥ trailing_gap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9016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動作：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9016" y="3337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從高點保護利潤
不急著出場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📱 Telegram 即時通知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9016" y="4343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✅ 出場已送出
  + 觸發原因 + 價格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84664" y="1097280"/>
            <a:ext cx="1737360" cy="512064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84664" y="1097280"/>
            <a:ext cx="173736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76104" y="1234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8C00"/>
                </a:solidFill>
                <a:latin typeface="Helvetica Neue"/>
              </a:rPr>
              <a:t>強制平倉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76104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閾值：13:00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76104" y="2057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條件：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當前時間 ≥ force_close_time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76104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動作：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76104" y="3337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確保當沖不留倉
全數平倉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76104" y="4023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📱 Telegram 即時通知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6104" y="43434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✅ 出場已送出
  + 觸發原因 + 價格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8C00"/>
                </a:solidFill>
                <a:latin typeface="Helvetica Neue"/>
              </a:rPr>
              <a:t>13:00 – 13:35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收盤三連發 — 警報 · 平倉 · 複盤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657600" cy="539496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00" cy="6400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8C00"/>
                </a:solidFill>
                <a:latin typeface="Helvetica Neue"/>
              </a:rPr>
              <a:t>13:00  出場警報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📱 Telegram 推播內容：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8C00"/>
                </a:solidFill>
                <a:latin typeface="Helvetica Neue"/>
              </a:rPr>
              <a:t>📊 當沖出場警報 13:00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340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🔴 2330 台積電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815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買 1068 → 現 1082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429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損益 +14,000（+1.3%）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76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🔴 2382 廣達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239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買 305 → 現 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714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損益 +14,000（+2.3%）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18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166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💰 合計損益：+28,000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5138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332B"/>
                </a:solidFill>
                <a:latin typeface="Helvetica Neue"/>
              </a:rPr>
              <a:t>⚠️ 13:25 將自動強制平倉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005840"/>
            <a:ext cx="3657600" cy="5394960"/>
          </a:xfrm>
          <a:prstGeom prst="rect">
            <a:avLst/>
          </a:prstGeom>
          <a:solidFill>
            <a:srgbClr val="161B22"/>
          </a:solidFill>
          <a:ln w="15240">
            <a:solidFill>
              <a:srgbClr val="C83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1005840"/>
            <a:ext cx="3657600" cy="64008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332B"/>
                </a:solidFill>
                <a:latin typeface="Helvetica Neue"/>
              </a:rPr>
              <a:t>13:25  強制平倉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ForceCloseJob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掃描所有 active 持倉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313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6609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Real 模式：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008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→ place_order(price=0, MKT)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355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→ 市價單確保成交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703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→ 等待 fill 回報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050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→ 寫入 force_close_requested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3982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74573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68BD2"/>
                </a:solidFill>
                <a:latin typeface="Helvetica Neue"/>
              </a:rPr>
              <a:t>Sim 模式：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093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→ 取即時報價計算損益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440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4F"/>
                </a:solidFill>
                <a:latin typeface="Helvetica Neue"/>
              </a:rPr>
              <a:t>→ 直接寫入已平倉記錄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788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1356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100% 確保不留倉過夜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1005840"/>
            <a:ext cx="3657600" cy="539496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1005840"/>
            <a:ext cx="36576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Helvetica Neue"/>
              </a:rPr>
              <a:t>13:35  收盤任務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16916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Helvetica Neue"/>
              </a:rPr>
              <a:t>① PostMarketJob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9933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停止監控 + 存每日摘要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29514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notify_market_close()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259689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28986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Helvetica Neue"/>
              </a:rPr>
              <a:t>② DaytradingReview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20040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回填 OHLC（yfinance）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35021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判斷 hit_target / hit_stop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80390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→ Telegram 複盤報告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1056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4074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Helvetica Neue"/>
              </a:rPr>
              <a:t>③ adaptive_scorer.py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7091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更新評分區間勝率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0109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生成 learning_summary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53126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寫入 adaptive_config.json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6144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591616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Helvetica Neue"/>
              </a:rPr>
              <a:t>④ notion_reporter.py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62179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推送今日完整報告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65196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  → Notion 資料庫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Telegram 推播完整清單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3200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99"/>
                </a:solidFill>
                <a:latin typeface="Helvetica Neue"/>
              </a:rPr>
              <a:t>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822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99"/>
                </a:solidFill>
                <a:latin typeface="Helvetica Neue"/>
              </a:rPr>
              <a:t>顏色分類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822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99"/>
                </a:solidFill>
                <a:latin typeface="Helvetica Neue"/>
              </a:rPr>
              <a:t>函式 / 模組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822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8899"/>
                </a:solidFill>
                <a:latin typeface="Helvetica Neue"/>
              </a:rPr>
              <a:t>推播內容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2743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  <a:latin typeface="Helvetica Neue"/>
              </a:rPr>
              <a:t>系統啟動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1408176"/>
            <a:ext cx="164592" cy="16459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3258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notify_system_start()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325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系統已啟動 · 模擬/真實模式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7556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8BD2"/>
                </a:solidFill>
                <a:latin typeface="Helvetica Neue"/>
              </a:rPr>
              <a:t>08:30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1837944"/>
            <a:ext cx="164592" cy="164592"/>
          </a:xfrm>
          <a:prstGeom prst="ellipse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17556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send_morning_push()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7556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📊 早晨市場簡報 + 三套策略 + 選擇 Keyboard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39696"/>
            <a:ext cx="1161288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1854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Helvetica Neue"/>
              </a:rPr>
              <a:t>08:30</a:t>
            </a:r>
          </a:p>
        </p:txBody>
      </p:sp>
      <p:sp>
        <p:nvSpPr>
          <p:cNvPr id="21" name="Oval 20"/>
          <p:cNvSpPr/>
          <p:nvPr/>
        </p:nvSpPr>
        <p:spPr>
          <a:xfrm>
            <a:off x="1920240" y="2267712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1854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DaytradingReport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1854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🎯 今日當沖候選股 · 評分 · 信心度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6151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Helvetica Neue"/>
              </a:rPr>
              <a:t>09:05</a:t>
            </a:r>
          </a:p>
        </p:txBody>
      </p:sp>
      <p:sp>
        <p:nvSpPr>
          <p:cNvPr id="25" name="Oval 24"/>
          <p:cNvSpPr/>
          <p:nvPr/>
        </p:nvSpPr>
        <p:spPr>
          <a:xfrm>
            <a:off x="1920240" y="2697480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61518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開盤確認通知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615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⚡ 每支股 ✅確認/❌放棄 + 現價 + 大盤方向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99232"/>
            <a:ext cx="1161288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0449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332B"/>
                </a:solidFill>
                <a:latin typeface="Helvetica Neue"/>
              </a:rPr>
              <a:t>09:10</a:t>
            </a:r>
          </a:p>
        </p:txBody>
      </p:sp>
      <p:sp>
        <p:nvSpPr>
          <p:cNvPr id="30" name="Oval 29"/>
          <p:cNvSpPr/>
          <p:nvPr/>
        </p:nvSpPr>
        <p:spPr>
          <a:xfrm>
            <a:off x="1920240" y="3127248"/>
            <a:ext cx="164592" cy="164592"/>
          </a:xfrm>
          <a:prstGeom prst="ellipse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30449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send_dt_buy_confirmation()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0449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💰 [✅ CODE] [❌跳過] Inline Keyboard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4747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017"/>
                </a:solidFill>
                <a:latin typeface="Helvetica Neue"/>
              </a:rPr>
              <a:t>盤中即時</a:t>
            </a:r>
          </a:p>
        </p:txBody>
      </p:sp>
      <p:sp>
        <p:nvSpPr>
          <p:cNvPr id="34" name="Oval 33"/>
          <p:cNvSpPr/>
          <p:nvPr/>
        </p:nvSpPr>
        <p:spPr>
          <a:xfrm>
            <a:off x="1920240" y="3557016"/>
            <a:ext cx="164592" cy="16459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48840" y="3474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_run_dt_sell_alerts()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3474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✅出場已送出 / ❌出場失敗 + 觸發原因 + 價格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58768"/>
            <a:ext cx="1161288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9044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68BD2"/>
                </a:solidFill>
                <a:latin typeface="Helvetica Neue"/>
              </a:rPr>
              <a:t>10:00</a:t>
            </a:r>
          </a:p>
        </p:txBody>
      </p:sp>
      <p:sp>
        <p:nvSpPr>
          <p:cNvPr id="39" name="Oval 38"/>
          <p:cNvSpPr/>
          <p:nvPr/>
        </p:nvSpPr>
        <p:spPr>
          <a:xfrm>
            <a:off x="1920240" y="3986784"/>
            <a:ext cx="164592" cy="164592"/>
          </a:xfrm>
          <a:prstGeom prst="ellipse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39044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_mid_session_check()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3904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📊 持倉損益 + 剩餘候選提示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3342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8C00"/>
                </a:solidFill>
                <a:latin typeface="Helvetica Neue"/>
              </a:rPr>
              <a:t>13:00</a:t>
            </a:r>
          </a:p>
        </p:txBody>
      </p:sp>
      <p:sp>
        <p:nvSpPr>
          <p:cNvPr id="43" name="Oval 42"/>
          <p:cNvSpPr/>
          <p:nvPr/>
        </p:nvSpPr>
        <p:spPr>
          <a:xfrm>
            <a:off x="1920240" y="4416552"/>
            <a:ext cx="164592" cy="164592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43342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出場警報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40" y="43342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所有持倉損益 + ⚠️ 13:25 強制平倉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18304"/>
            <a:ext cx="1161288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7640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332B"/>
                </a:solidFill>
                <a:latin typeface="Helvetica Neue"/>
              </a:rPr>
              <a:t>13:25</a:t>
            </a:r>
          </a:p>
        </p:txBody>
      </p:sp>
      <p:sp>
        <p:nvSpPr>
          <p:cNvPr id="48" name="Oval 47"/>
          <p:cNvSpPr/>
          <p:nvPr/>
        </p:nvSpPr>
        <p:spPr>
          <a:xfrm>
            <a:off x="1920240" y="4846320"/>
            <a:ext cx="164592" cy="164592"/>
          </a:xfrm>
          <a:prstGeom prst="ellipse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8840" y="47640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ForceCloseJob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4764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強制平倉執行結果通知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5193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D4F"/>
                </a:solidFill>
                <a:latin typeface="Helvetica Neue"/>
              </a:rPr>
              <a:t>13:35</a:t>
            </a:r>
          </a:p>
        </p:txBody>
      </p:sp>
      <p:sp>
        <p:nvSpPr>
          <p:cNvPr id="52" name="Oval 51"/>
          <p:cNvSpPr/>
          <p:nvPr/>
        </p:nvSpPr>
        <p:spPr>
          <a:xfrm>
            <a:off x="1920240" y="5276088"/>
            <a:ext cx="164592" cy="164592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48840" y="51937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notify_market_close()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40" y="51937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📈 今日總損益 + 交易筆數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577840"/>
            <a:ext cx="1161288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5623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Helvetica Neue"/>
              </a:rPr>
              <a:t>13:35</a:t>
            </a:r>
          </a:p>
        </p:txBody>
      </p:sp>
      <p:sp>
        <p:nvSpPr>
          <p:cNvPr id="57" name="Oval 56"/>
          <p:cNvSpPr/>
          <p:nvPr/>
        </p:nvSpPr>
        <p:spPr>
          <a:xfrm>
            <a:off x="1920240" y="5705856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48840" y="56235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DaytradingReview → send_text()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9040" y="5623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🎯 預測複盤：hit_target / hit_stop · 近30日勝率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0533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  <a:latin typeface="Helvetica Neue"/>
              </a:rPr>
              <a:t>系統停止</a:t>
            </a:r>
          </a:p>
        </p:txBody>
      </p:sp>
      <p:sp>
        <p:nvSpPr>
          <p:cNvPr id="61" name="Oval 60"/>
          <p:cNvSpPr/>
          <p:nvPr/>
        </p:nvSpPr>
        <p:spPr>
          <a:xfrm>
            <a:off x="1920240" y="6135624"/>
            <a:ext cx="164592" cy="16459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48840" y="60533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notify_system_stop()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40" y="60533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系統已停止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AI 學習反饋回路 — 越來越準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108960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108960" cy="6400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8BD2"/>
                </a:solidFill>
                <a:latin typeface="Helvetica Neue"/>
              </a:rPr>
              <a:t>① 盤前 AI 分析
08:30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108960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108960" cy="6400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Helvetica Neue"/>
              </a:rPr>
              <a:t>② 使用者執行
09:10 買入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3108960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1188720"/>
            <a:ext cx="310896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371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Helvetica Neue"/>
              </a:rPr>
              <a:t>③ 盤中監控
TP/SL 觸發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657600"/>
            <a:ext cx="3108960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3657600"/>
            <a:ext cx="3108960" cy="6400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840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8C00"/>
                </a:solidFill>
                <a:latin typeface="Helvetica Neue"/>
              </a:rPr>
              <a:t>④ 收盤複盤
13:35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108960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657600"/>
            <a:ext cx="310896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Helvetica Neue"/>
              </a:rPr>
              <a:t>⑤ 學習更新
adaptive_scorer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108960" cy="1645920"/>
          </a:xfrm>
          <a:prstGeom prst="rect">
            <a:avLst/>
          </a:prstGeom>
          <a:solidFill>
            <a:srgbClr val="161B2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108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Helvetica Neue"/>
              </a:rPr>
              <a:t>⑥ Notion 報告
每日推送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→ 評分預測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→ 成交記錄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→ OHLC 回填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→ 勝率統計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→ learning_summary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→ 注入隔日提示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77840"/>
            <a:ext cx="114300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017"/>
                </a:solidFill>
                <a:latin typeface="Helvetica Neue"/>
              </a:rPr>
              <a:t>學習效果（隨交易日累積）：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評分 4-5 分  →  歷史勝率 31%  →  建議跳過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評分 6-7 分  →  歷史勝率 58%  →  推薦操作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 Neue"/>
              </a:rPr>
              <a:t>評分 8-10分  →  歷史勝率 72%  →  強烈推薦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5CF6"/>
                </a:solidFill>
                <a:latin typeface="Helvetica Neue"/>
              </a:rPr>
              <a:t>→ optimal_min_score 自動調高門檻，每日 Notion 顯示勝率趨勢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Notion 每日報告 — 📈 當沖 AI 每日報告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743200" cy="365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02920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Helvetica Neue"/>
              </a:rPr>
              <a:t>資料庫屬性欄位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002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2026-05-29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勝率%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93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293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58.3%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585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總損益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2585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585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+28,400 NTD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877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預測筆數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87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5877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169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達目標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16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9169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觸停損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2461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461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753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未觸發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57530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57530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044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大盤漲跌%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9044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9044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+1.24%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336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近7日勝率%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2336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2336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55.1%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628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近30日勝率%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562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5628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52.8%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920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最高分股票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8920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8920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2330 台積電（9/10）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212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結果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2212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Select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221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獲利日 / 虧損日 / 平盤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5504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學習版本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55040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Number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5504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v12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879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 Neue"/>
              </a:rPr>
              <a:t>AI建議調整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58795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8795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learning_summary（2000字）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1005840"/>
            <a:ext cx="630936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1097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8F"/>
                </a:solidFill>
                <a:latin typeface="Helvetica Neue"/>
              </a:rPr>
              <a:t>頁面正文（Markdown 格式）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1600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## 2026-05-29 當沖複盤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0" y="18928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大盤漲跌 +1.24%　今日損益 +28,400 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218541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0" y="24780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## 預測結果（共 6 筆）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27706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✅ 達目標：3 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3063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332B"/>
                </a:solidFill>
                <a:latin typeface="Helvetica Neue"/>
              </a:rPr>
              <a:t>❌ 觸停損：2 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0" y="33558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⬜ 未觸發：1 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36484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今日勝率：50.0%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0" y="39410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0" y="42336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## 個股明細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4526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✅ 2330 台積電（評分 9/10）— 達目標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0" y="48188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   目標 1120  停損 1030  高 1125...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0" y="51114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332B"/>
                </a:solidFill>
                <a:latin typeface="Helvetica Neue"/>
              </a:rPr>
              <a:t>❌ 2382 廣達（評分 7/10）— 觸停損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5404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6967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5CF6"/>
                </a:solidFill>
                <a:latin typeface="Helvetica Neue"/>
              </a:rPr>
              <a:t>## 🧠 AI 學習摘要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5000" y="5989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評分 8-10 歷史勝率：72.0%...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62819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## 各評分區間勝率（累積）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0" y="65745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評分 8-10：████████████░░░░░░░░ 72.0%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0" y="68671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評分 6-7： ███████████░░░░░░░░░ 58.0%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環境設定 &amp; 快速啟動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828800" cy="3657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0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Helvetica Neue"/>
              </a:rPr>
              <a:t>.env 必填設定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TELEGRAM_BOT_TOKEN=你的 Bot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122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TELEGRAM_CHAT_ID=你的 Chat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TELEGRAM_USER_ID=你的 User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243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Notion（每日推報告）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3639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5CF6"/>
                </a:solidFill>
                <a:latin typeface="Helvetica Neue"/>
              </a:rPr>
              <a:t>NOTION_TOKEN=secret_xxx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924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NOTION_DB_ID=1031a6aff6b3...  # 可選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4845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044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券商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SHIOAJI_API_KEY=xxx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SHIOAJI_SECRET_KEY=xxx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7258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SHIOAJI_SIMULATION=true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286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8464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AI 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A9D8F"/>
                </a:solidFill>
                <a:latin typeface="Helvetica Neue"/>
              </a:rPr>
              <a:t>ANTHROPIC_API_KEY=sk-ant-xxx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96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A9D8F"/>
                </a:solidFill>
                <a:latin typeface="Helvetica Neue"/>
              </a:rPr>
              <a:t>GEMINI_API_KEY=xxx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527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087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下單安全上限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648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ORDER_HARD_LIMIT=150000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7208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BUDGET_PER_STOCK=100000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005840"/>
            <a:ext cx="58521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Helvetica Neue"/>
              </a:rPr>
              <a:t>系統啟動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600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主排程（每日 08:30–13:35）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1874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4F"/>
                </a:solidFill>
                <a:latin typeface="Helvetica Neue"/>
              </a:rPr>
              <a:t>python3 main.py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148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4231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Telegram Bot（另開終端）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python3 telegram_bot.py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971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每日 13:35 後手動執行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5CF6"/>
                </a:solidFill>
                <a:latin typeface="Helvetica Neue"/>
              </a:rPr>
              <a:t>bash post_market.sh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或加入 crontab：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069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5CF6"/>
                </a:solidFill>
                <a:latin typeface="Helvetica Neue"/>
              </a:rPr>
              <a:t>35 13 * * 1-5  bash post_market.sh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749039"/>
            <a:ext cx="585216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8BD2"/>
                </a:solidFill>
                <a:latin typeface="Helvetica Neue"/>
              </a:rPr>
              <a:t>手動操作指令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251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查看當前學習狀態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4988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68BD2"/>
                </a:solidFill>
                <a:latin typeface="Helvetica Neue"/>
              </a:rPr>
              <a:t>python3 adaptive_scorer.py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7457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9926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手動推送今日 Notion 報告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239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A9D8F"/>
                </a:solidFill>
                <a:latin typeface="Helvetica Neue"/>
              </a:rPr>
              <a:t>python3 notion_reporter.py 2026-05-29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486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7332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當沖預測報告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98017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4A017"/>
                </a:solidFill>
                <a:latin typeface="Helvetica Neue"/>
              </a:rPr>
              <a:t>python3 daytrading_report.py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622706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6473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  <a:latin typeface="Helvetica Neue"/>
              </a:rPr>
              <a:t># Telegram Bot 互動（主選單）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6720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Helvetica Neue"/>
              </a:rPr>
              <a:t>發送：/menu 到 Bot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36576"/>
          </a:xfrm>
          <a:prstGeom prst="rect">
            <a:avLst/>
          </a:prstGeom>
          <a:solidFill>
            <a:srgbClr val="C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7208"/>
            <a:ext cx="12188952" cy="18288"/>
          </a:xfrm>
          <a:prstGeom prst="rect">
            <a:avLst/>
          </a:prstGeom>
          <a:solidFill>
            <a:srgbClr val="26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系統設計亮點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08960"/>
            <a:ext cx="1920240" cy="1508760"/>
          </a:xfrm>
          <a:prstGeom prst="rect">
            <a:avLst/>
          </a:prstGeom>
          <a:solidFill>
            <a:srgbClr val="161B22"/>
          </a:solidFill>
          <a:ln w="15240">
            <a:solidFill>
              <a:srgbClr val="C83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246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332B"/>
                </a:solidFill>
                <a:latin typeface="Helvetica Neue"/>
              </a:rPr>
              <a:t>買入手動確認
賣出全自動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8587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下單需 Telegram 二次確認
出場不等人，即時執行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3108960"/>
            <a:ext cx="1920240" cy="1508760"/>
          </a:xfrm>
          <a:prstGeom prst="rect">
            <a:avLst/>
          </a:prstGeom>
          <a:solidFill>
            <a:srgbClr val="161B22"/>
          </a:solidFill>
          <a:ln w="1524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3246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Helvetica Neue"/>
              </a:rPr>
              <a:t>四層出場保護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8587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停損 3% / 達目標 9%
追蹤停損 / 13:25 強制平倉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108960"/>
            <a:ext cx="1920240" cy="150876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246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Helvetica Neue"/>
              </a:rPr>
              <a:t>AI 每日學習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85876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評分區間勝率統計
自動調整最低門檻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1920240" cy="1508760"/>
          </a:xfrm>
          <a:prstGeom prst="rect">
            <a:avLst/>
          </a:prstGeom>
          <a:solidFill>
            <a:srgbClr val="161B22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8920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Helvetica Neue"/>
              </a:rPr>
              <a:t>Notion 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5046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每日自動推送
勝率趨勢可視化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754880"/>
            <a:ext cx="1920240" cy="1508760"/>
          </a:xfrm>
          <a:prstGeom prst="rect">
            <a:avLst/>
          </a:prstGeom>
          <a:solidFill>
            <a:srgbClr val="161B22"/>
          </a:solidFill>
          <a:ln w="15240">
            <a:solidFill>
              <a:srgbClr val="26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7168" y="48920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8BD2"/>
                </a:solidFill>
                <a:latin typeface="Helvetica Neue"/>
              </a:rPr>
              <a:t>Telegram 全程追蹤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55046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12 個推播節點
系統啟動到收盤全覆蓋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754880"/>
            <a:ext cx="1920240" cy="1508760"/>
          </a:xfrm>
          <a:prstGeom prst="rect">
            <a:avLst/>
          </a:prstGeom>
          <a:solidFill>
            <a:srgbClr val="161B22"/>
          </a:solidFill>
          <a:ln w="1524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48920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4F"/>
                </a:solidFill>
                <a:latin typeface="Helvetica Neue"/>
              </a:rPr>
              <a:t>台股色彩規範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550468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Helvetica Neue"/>
              </a:rPr>
              <a:t>漲紅 #C8332B
跌綠 #2E7D4F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0040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所有 17 個畫面 ·
12 個 Telegram 推播節點 ·
全自動排程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6217920"/>
            <a:ext cx="5943600" cy="36576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629107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99"/>
                </a:solidFill>
                <a:latin typeface="Helvetica Neue"/>
              </a:rPr>
              <a:t>QUANT · AI · 台股量化交易工作站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